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rimo" panose="020B0604020202020204" charset="0"/>
      <p:regular r:id="rId7"/>
    </p:embeddedFont>
    <p:embeddedFont>
      <p:font typeface="Boston Angel" panose="020B0604020202020204" charset="0"/>
      <p:regular r:id="rId8"/>
    </p:embeddedFont>
    <p:embeddedFont>
      <p:font typeface="Boston Angel Bold" panose="020B0604020202020204" charset="0"/>
      <p:regular r:id="rId9"/>
    </p:embeddedFont>
    <p:embeddedFont>
      <p:font typeface="Open Sauce" panose="020B0604020202020204" charset="0"/>
      <p:regular r:id="rId10"/>
    </p:embeddedFont>
    <p:embeddedFont>
      <p:font typeface="Open Sauce Bold" panose="020B0604020202020204" charset="0"/>
      <p:regular r:id="rId11"/>
    </p:embeddedFont>
    <p:embeddedFont>
      <p:font typeface="Open Sauce Medium" panose="020B0604020202020204" charset="0"/>
      <p:regular r:id="rId12"/>
    </p:embeddedFont>
    <p:embeddedFont>
      <p:font typeface="Open Sauce Semi-Bold" panose="020B0604020202020204" charset="0"/>
      <p:regular r:id="rId13"/>
    </p:embeddedFont>
    <p:embeddedFont>
      <p:font typeface="Open Sauce Semi-Bold Italic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542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jpe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taildive.com/news/hm-tests-smart-mirrors-at-cos-stores-in-a-bid-for-a-more-personalized-expe/625014/" TargetMode="External"/><Relationship Id="rId13" Type="http://schemas.openxmlformats.org/officeDocument/2006/relationships/hyperlink" Target="https://patents.google.com/patent/US20240169414A1/en" TargetMode="External"/><Relationship Id="rId3" Type="http://schemas.openxmlformats.org/officeDocument/2006/relationships/image" Target="../media/image34.png"/><Relationship Id="rId7" Type="http://schemas.openxmlformats.org/officeDocument/2006/relationships/hyperlink" Target="https://digiday.com/marketing/rebecca-minkoff-digital-store/" TargetMode="External"/><Relationship Id="rId12" Type="http://schemas.openxmlformats.org/officeDocument/2006/relationships/hyperlink" Target="https://nvlpubs.nist.gov/nistpubs/ir/2019/NIST.IR.8280.pdf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ndiainfoline.com/company/trent-ltd/management-discussions" TargetMode="External"/><Relationship Id="rId11" Type="http://schemas.openxmlformats.org/officeDocument/2006/relationships/hyperlink" Target="https://arxiv.org/abs/2210.05667" TargetMode="External"/><Relationship Id="rId5" Type="http://schemas.openxmlformats.org/officeDocument/2006/relationships/hyperlink" Target="https://nsearchives.nseindia.com/corporate/TRENT_06082026134112_InvestorPresentation06082026Q1FY27.pdf" TargetMode="External"/><Relationship Id="rId10" Type="http://schemas.openxmlformats.org/officeDocument/2006/relationships/hyperlink" Target="https://arxiv.org/abs/1803.09196" TargetMode="External"/><Relationship Id="rId4" Type="http://schemas.openxmlformats.org/officeDocument/2006/relationships/hyperlink" Target="https://trentlimited.com/pages/about-us" TargetMode="External"/><Relationship Id="rId9" Type="http://schemas.openxmlformats.org/officeDocument/2006/relationships/hyperlink" Target="https://www.kaggle.com/competitions/h-and-m-personalized-fashion-recommendations/data" TargetMode="External"/><Relationship Id="rId1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 descr="Westside store floor with clothing racks at Mani Square Mall, Kolkata"/>
          <p:cNvSpPr/>
          <p:nvPr/>
        </p:nvSpPr>
        <p:spPr>
          <a:xfrm>
            <a:off x="8925244" y="0"/>
            <a:ext cx="9362756" cy="10287000"/>
          </a:xfrm>
          <a:custGeom>
            <a:avLst/>
            <a:gdLst/>
            <a:ahLst/>
            <a:cxnLst/>
            <a:rect l="l" t="t" r="r" b="b"/>
            <a:pathLst>
              <a:path w="9362756" h="10287000">
                <a:moveTo>
                  <a:pt x="0" y="0"/>
                </a:moveTo>
                <a:lnTo>
                  <a:pt x="9362756" y="0"/>
                </a:lnTo>
                <a:lnTo>
                  <a:pt x="9362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714" t="-1049" r="-49714" b="-104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55931" y="1517750"/>
            <a:ext cx="7452986" cy="2853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80"/>
              </a:lnSpc>
            </a:pPr>
            <a:r>
              <a:rPr lang="en-US" sz="10911" b="1" spc="-436">
                <a:solidFill>
                  <a:srgbClr val="0D2B40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The</a:t>
            </a:r>
          </a:p>
          <a:p>
            <a:pPr algn="l">
              <a:lnSpc>
                <a:spcPts val="10580"/>
              </a:lnSpc>
            </a:pPr>
            <a:r>
              <a:rPr lang="en-US" sz="10911" b="1" spc="-436">
                <a:solidFill>
                  <a:srgbClr val="0D2B40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Stylist Mirror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4493047"/>
            <a:ext cx="7197072" cy="229572"/>
          </a:xfrm>
          <a:custGeom>
            <a:avLst/>
            <a:gdLst/>
            <a:ahLst/>
            <a:cxnLst/>
            <a:rect l="l" t="t" r="r" b="b"/>
            <a:pathLst>
              <a:path w="7197072" h="229572">
                <a:moveTo>
                  <a:pt x="0" y="0"/>
                </a:moveTo>
                <a:lnTo>
                  <a:pt x="7197072" y="0"/>
                </a:lnTo>
                <a:lnTo>
                  <a:pt x="7197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02536" y="5144053"/>
            <a:ext cx="5471356" cy="928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3053">
                <a:solidFill>
                  <a:srgbClr val="B28E3B"/>
                </a:solidFill>
                <a:latin typeface="Open Sauce"/>
                <a:ea typeface="Open Sauce"/>
                <a:cs typeface="Open Sauce"/>
                <a:sym typeface="Open Sauce"/>
              </a:rPr>
              <a:t>Turning every Westside visit</a:t>
            </a:r>
          </a:p>
          <a:p>
            <a:pPr algn="l">
              <a:lnSpc>
                <a:spcPts val="3664"/>
              </a:lnSpc>
            </a:pPr>
            <a:r>
              <a:rPr lang="en-US" sz="3053">
                <a:solidFill>
                  <a:srgbClr val="B28E3B"/>
                </a:solidFill>
                <a:latin typeface="Open Sauce"/>
                <a:ea typeface="Open Sauce"/>
                <a:cs typeface="Open Sauce"/>
                <a:sym typeface="Open Sauce"/>
              </a:rPr>
              <a:t>into a complete outfit.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7925691"/>
            <a:ext cx="7197072" cy="218640"/>
          </a:xfrm>
          <a:custGeom>
            <a:avLst/>
            <a:gdLst/>
            <a:ahLst/>
            <a:cxnLst/>
            <a:rect l="l" t="t" r="r" b="b"/>
            <a:pathLst>
              <a:path w="7197072" h="218640">
                <a:moveTo>
                  <a:pt x="0" y="0"/>
                </a:moveTo>
                <a:lnTo>
                  <a:pt x="7197072" y="0"/>
                </a:lnTo>
                <a:lnTo>
                  <a:pt x="7197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57250" y="6538913"/>
            <a:ext cx="7206258" cy="1133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250">
                <a:solidFill>
                  <a:srgbClr val="39434D"/>
                </a:solidFill>
                <a:latin typeface="Boston Angel"/>
                <a:ea typeface="Boston Angel"/>
                <a:cs typeface="Boston Angel"/>
                <a:sym typeface="Boston Angel"/>
              </a:rPr>
              <a:t>Analytics Capstone Project</a:t>
            </a:r>
          </a:p>
          <a:p>
            <a:pPr algn="l">
              <a:lnSpc>
                <a:spcPts val="3082"/>
              </a:lnSpc>
            </a:pPr>
            <a:r>
              <a:rPr lang="en-US" sz="2250">
                <a:solidFill>
                  <a:srgbClr val="39434D"/>
                </a:solidFill>
                <a:latin typeface="Boston Angel"/>
                <a:ea typeface="Boston Angel"/>
                <a:cs typeface="Boston Angel"/>
                <a:sym typeface="Boston Angel"/>
              </a:rPr>
              <a:t>Group M</a:t>
            </a:r>
          </a:p>
          <a:p>
            <a:pPr algn="l">
              <a:lnSpc>
                <a:spcPts val="3082"/>
              </a:lnSpc>
            </a:pPr>
            <a:r>
              <a:rPr lang="en-US" sz="2250">
                <a:solidFill>
                  <a:srgbClr val="39434D"/>
                </a:solidFill>
                <a:latin typeface="Boston Angel"/>
                <a:ea typeface="Boston Angel"/>
                <a:cs typeface="Boston Angel"/>
                <a:sym typeface="Boston Angel"/>
              </a:rPr>
              <a:t>Project Charter D1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250" y="8361274"/>
            <a:ext cx="7206258" cy="1133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2"/>
              </a:lnSpc>
            </a:pPr>
            <a:r>
              <a:rPr lang="en-US" sz="2250">
                <a:solidFill>
                  <a:srgbClr val="39434D"/>
                </a:solidFill>
                <a:latin typeface="Boston Angel"/>
                <a:ea typeface="Boston Angel"/>
                <a:cs typeface="Boston Angel"/>
                <a:sym typeface="Boston Angel"/>
              </a:rPr>
              <a:t>Ambarish Sengupta</a:t>
            </a:r>
          </a:p>
          <a:p>
            <a:pPr algn="l">
              <a:lnSpc>
                <a:spcPts val="3082"/>
              </a:lnSpc>
            </a:pPr>
            <a:r>
              <a:rPr lang="en-US" sz="2250">
                <a:solidFill>
                  <a:srgbClr val="39434D"/>
                </a:solidFill>
                <a:latin typeface="Boston Angel"/>
                <a:ea typeface="Boston Angel"/>
                <a:cs typeface="Boston Angel"/>
                <a:sym typeface="Boston Angel"/>
              </a:rPr>
              <a:t>Arpan Shah</a:t>
            </a:r>
          </a:p>
          <a:p>
            <a:pPr algn="l">
              <a:lnSpc>
                <a:spcPts val="3082"/>
              </a:lnSpc>
            </a:pPr>
            <a:r>
              <a:rPr lang="en-US" sz="2250">
                <a:solidFill>
                  <a:srgbClr val="39434D"/>
                </a:solidFill>
                <a:latin typeface="Boston Angel"/>
                <a:ea typeface="Boston Angel"/>
                <a:cs typeface="Boston Angel"/>
                <a:sym typeface="Boston Angel"/>
              </a:rPr>
              <a:t>C Prashanth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50" y="9772650"/>
            <a:ext cx="7620000" cy="24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89"/>
              </a:lnSpc>
              <a:spcBef>
                <a:spcPct val="0"/>
              </a:spcBef>
            </a:pPr>
            <a:r>
              <a:rPr lang="en-US" sz="1350" u="none" strike="noStrike">
                <a:solidFill>
                  <a:srgbClr val="5B666F"/>
                </a:solidFill>
                <a:latin typeface="Arimo"/>
                <a:ea typeface="Arimo"/>
                <a:cs typeface="Arimo"/>
                <a:sym typeface="Arimo"/>
              </a:rPr>
              <a:t>Photo: Biswarup Ganguly, Wikimedia Commons, CC BY-SA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6180" y="793221"/>
            <a:ext cx="11785942" cy="193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9"/>
              </a:lnSpc>
            </a:pPr>
            <a:r>
              <a:rPr lang="en-US" sz="7239" spc="70">
                <a:solidFill>
                  <a:srgbClr val="183B51"/>
                </a:solidFill>
                <a:latin typeface="Boston Angel"/>
                <a:ea typeface="Boston Angel"/>
                <a:cs typeface="Boston Angel"/>
                <a:sym typeface="Boston Angel"/>
              </a:rPr>
              <a:t>Westside knows its buyers</a:t>
            </a:r>
          </a:p>
          <a:p>
            <a:pPr algn="l">
              <a:lnSpc>
                <a:spcPts val="7239"/>
              </a:lnSpc>
            </a:pPr>
            <a:r>
              <a:rPr lang="en-US" sz="7239" spc="70">
                <a:solidFill>
                  <a:srgbClr val="183B51"/>
                </a:solidFill>
                <a:latin typeface="Boston Angel"/>
                <a:ea typeface="Boston Angel"/>
                <a:cs typeface="Boston Angel"/>
                <a:sym typeface="Boston Angel"/>
              </a:rPr>
              <a:t>but sells them one item at a time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3214004"/>
            <a:ext cx="11987828" cy="218640"/>
          </a:xfrm>
          <a:custGeom>
            <a:avLst/>
            <a:gdLst/>
            <a:ahLst/>
            <a:cxnLst/>
            <a:rect l="l" t="t" r="r" b="b"/>
            <a:pathLst>
              <a:path w="11987828" h="218640">
                <a:moveTo>
                  <a:pt x="0" y="0"/>
                </a:moveTo>
                <a:lnTo>
                  <a:pt x="11987828" y="0"/>
                </a:lnTo>
                <a:lnTo>
                  <a:pt x="1198782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43773" y="3778309"/>
            <a:ext cx="1531283" cy="124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6"/>
              </a:lnSpc>
            </a:pPr>
            <a:r>
              <a:rPr lang="en-US" sz="8736" spc="85">
                <a:solidFill>
                  <a:srgbClr val="BB9134"/>
                </a:solidFill>
                <a:latin typeface="Boston Angel"/>
                <a:ea typeface="Boston Angel"/>
                <a:cs typeface="Boston Angel"/>
                <a:sym typeface="Boston Angel"/>
              </a:rPr>
              <a:t>300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5805" y="5047206"/>
            <a:ext cx="1501679" cy="82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09" b="1" spc="-42" dirty="0">
                <a:solidFill>
                  <a:srgbClr val="49566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stores in</a:t>
            </a:r>
          </a:p>
          <a:p>
            <a:pPr algn="l">
              <a:lnSpc>
                <a:spcPts val="3374"/>
              </a:lnSpc>
            </a:pPr>
            <a:r>
              <a:rPr lang="en-US" sz="2109" b="1" spc="-42" dirty="0">
                <a:solidFill>
                  <a:srgbClr val="49566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97 cities</a:t>
            </a:r>
          </a:p>
        </p:txBody>
      </p:sp>
      <p:sp>
        <p:nvSpPr>
          <p:cNvPr id="7" name="Freeform 7"/>
          <p:cNvSpPr/>
          <p:nvPr/>
        </p:nvSpPr>
        <p:spPr>
          <a:xfrm>
            <a:off x="3696976" y="3848060"/>
            <a:ext cx="229694" cy="2590881"/>
          </a:xfrm>
          <a:custGeom>
            <a:avLst/>
            <a:gdLst/>
            <a:ahLst/>
            <a:cxnLst/>
            <a:rect l="l" t="t" r="r" b="b"/>
            <a:pathLst>
              <a:path w="229694" h="2590881">
                <a:moveTo>
                  <a:pt x="0" y="0"/>
                </a:moveTo>
                <a:lnTo>
                  <a:pt x="229694" y="0"/>
                </a:lnTo>
                <a:lnTo>
                  <a:pt x="229694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767083" y="3778309"/>
            <a:ext cx="2800054" cy="124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36"/>
              </a:lnSpc>
            </a:pPr>
            <a:r>
              <a:rPr lang="en-US" sz="8736" spc="85">
                <a:solidFill>
                  <a:srgbClr val="BB9134"/>
                </a:solidFill>
                <a:latin typeface="Boston Angel"/>
                <a:ea typeface="Boston Angel"/>
                <a:cs typeface="Boston Angel"/>
                <a:sym typeface="Boston Angel"/>
              </a:rPr>
              <a:t>11.85M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40092" y="5047206"/>
            <a:ext cx="3368148" cy="79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09" b="1" spc="-42">
                <a:solidFill>
                  <a:srgbClr val="49566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WestStyleClub members drive over 90% of revenue</a:t>
            </a:r>
          </a:p>
        </p:txBody>
      </p:sp>
      <p:sp>
        <p:nvSpPr>
          <p:cNvPr id="10" name="Freeform 10"/>
          <p:cNvSpPr/>
          <p:nvPr/>
        </p:nvSpPr>
        <p:spPr>
          <a:xfrm>
            <a:off x="8487732" y="3848060"/>
            <a:ext cx="229694" cy="2590881"/>
          </a:xfrm>
          <a:custGeom>
            <a:avLst/>
            <a:gdLst/>
            <a:ahLst/>
            <a:cxnLst/>
            <a:rect l="l" t="t" r="r" b="b"/>
            <a:pathLst>
              <a:path w="229694" h="2590881">
                <a:moveTo>
                  <a:pt x="0" y="0"/>
                </a:moveTo>
                <a:lnTo>
                  <a:pt x="229694" y="0"/>
                </a:lnTo>
                <a:lnTo>
                  <a:pt x="229694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280933" y="3778309"/>
            <a:ext cx="1487154" cy="1242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36"/>
              </a:lnSpc>
            </a:pPr>
            <a:r>
              <a:rPr lang="en-US" sz="8736" spc="85">
                <a:solidFill>
                  <a:srgbClr val="BB9134"/>
                </a:solidFill>
                <a:latin typeface="Boston Angel"/>
                <a:ea typeface="Boston Angel"/>
                <a:cs typeface="Boston Angel"/>
                <a:sym typeface="Boston Angel"/>
              </a:rPr>
              <a:t>19%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62069" y="5047433"/>
            <a:ext cx="3373568" cy="1200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09" b="1" spc="-42">
                <a:solidFill>
                  <a:srgbClr val="49566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Trent Q1 FY27 revenue up, but like-for-like growth only low single digits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6635716"/>
            <a:ext cx="11987828" cy="229572"/>
          </a:xfrm>
          <a:custGeom>
            <a:avLst/>
            <a:gdLst/>
            <a:ahLst/>
            <a:cxnLst/>
            <a:rect l="l" t="t" r="r" b="b"/>
            <a:pathLst>
              <a:path w="11987828" h="229572">
                <a:moveTo>
                  <a:pt x="0" y="0"/>
                </a:moveTo>
                <a:lnTo>
                  <a:pt x="11987828" y="0"/>
                </a:lnTo>
                <a:lnTo>
                  <a:pt x="11987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59086" y="7356884"/>
            <a:ext cx="5706070" cy="76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545454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Shoppers get little styling help,</a:t>
            </a:r>
          </a:p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545454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so many buy one item and leave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9086" y="8501508"/>
            <a:ext cx="8545711" cy="76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545454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Stock is allocated on past sales,</a:t>
            </a:r>
          </a:p>
          <a:p>
            <a:pPr algn="l">
              <a:lnSpc>
                <a:spcPts val="3150"/>
              </a:lnSpc>
            </a:pPr>
            <a:r>
              <a:rPr lang="en-US" sz="2250" b="1">
                <a:solidFill>
                  <a:srgbClr val="545454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so sizes run out while other items are marked down</a:t>
            </a:r>
          </a:p>
        </p:txBody>
      </p:sp>
      <p:sp>
        <p:nvSpPr>
          <p:cNvPr id="16" name="Freeform 16" descr="Shirts on display at a Westside store, Mani Square Mall, Kolkata"/>
          <p:cNvSpPr/>
          <p:nvPr/>
        </p:nvSpPr>
        <p:spPr>
          <a:xfrm>
            <a:off x="13059732" y="634055"/>
            <a:ext cx="5228268" cy="9018889"/>
          </a:xfrm>
          <a:custGeom>
            <a:avLst/>
            <a:gdLst/>
            <a:ahLst/>
            <a:cxnLst/>
            <a:rect l="l" t="t" r="r" b="b"/>
            <a:pathLst>
              <a:path w="5228268" h="9018889">
                <a:moveTo>
                  <a:pt x="0" y="0"/>
                </a:moveTo>
                <a:lnTo>
                  <a:pt x="5228268" y="0"/>
                </a:lnTo>
                <a:lnTo>
                  <a:pt x="5228268" y="9018890"/>
                </a:lnTo>
                <a:lnTo>
                  <a:pt x="0" y="901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065" t="-3657" r="-2065" b="-3657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058775" y="9772650"/>
            <a:ext cx="5048250" cy="24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66F"/>
                </a:solidFill>
                <a:latin typeface="Arimo"/>
                <a:ea typeface="Arimo"/>
                <a:cs typeface="Arimo"/>
                <a:sym typeface="Arimo"/>
              </a:rPr>
              <a:t>Photo: Biswarup Ganguly, Wikimedia Commons, CC BY-SA 4.0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7404" y="702981"/>
            <a:ext cx="4984612" cy="1134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7935" spc="317">
                <a:solidFill>
                  <a:srgbClr val="113047"/>
                </a:solidFill>
                <a:latin typeface="Boston Angel"/>
                <a:ea typeface="Boston Angel"/>
                <a:cs typeface="Boston Angel"/>
                <a:sym typeface="Boston Angel"/>
              </a:rPr>
              <a:t>One mirror</a:t>
            </a:r>
          </a:p>
        </p:txBody>
      </p:sp>
      <p:sp>
        <p:nvSpPr>
          <p:cNvPr id="4" name="Freeform 4"/>
          <p:cNvSpPr/>
          <p:nvPr/>
        </p:nvSpPr>
        <p:spPr>
          <a:xfrm>
            <a:off x="864086" y="1705390"/>
            <a:ext cx="9811206" cy="448211"/>
          </a:xfrm>
          <a:custGeom>
            <a:avLst/>
            <a:gdLst/>
            <a:ahLst/>
            <a:cxnLst/>
            <a:rect l="l" t="t" r="r" b="b"/>
            <a:pathLst>
              <a:path w="9811206" h="448211">
                <a:moveTo>
                  <a:pt x="0" y="0"/>
                </a:moveTo>
                <a:lnTo>
                  <a:pt x="9811206" y="0"/>
                </a:lnTo>
                <a:lnTo>
                  <a:pt x="9811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04092" y="2444556"/>
            <a:ext cx="857207" cy="11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3"/>
              </a:lnSpc>
            </a:pPr>
            <a:r>
              <a:rPr lang="en-US" sz="8353" spc="334">
                <a:solidFill>
                  <a:srgbClr val="B48A38"/>
                </a:solidFill>
                <a:latin typeface="Boston Angel"/>
                <a:ea typeface="Boston Angel"/>
                <a:cs typeface="Boston Angel"/>
                <a:sym typeface="Boston Angel"/>
              </a:rPr>
              <a:t>01</a:t>
            </a:r>
          </a:p>
        </p:txBody>
      </p:sp>
      <p:sp>
        <p:nvSpPr>
          <p:cNvPr id="6" name="Freeform 6"/>
          <p:cNvSpPr/>
          <p:nvPr/>
        </p:nvSpPr>
        <p:spPr>
          <a:xfrm>
            <a:off x="2821952" y="2350377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63389" y="2546915"/>
            <a:ext cx="1918885" cy="488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3480" spc="139">
                <a:solidFill>
                  <a:srgbClr val="113047"/>
                </a:solidFill>
                <a:latin typeface="Boston Angel"/>
                <a:ea typeface="Boston Angel"/>
                <a:cs typeface="Boston Angel"/>
                <a:sym typeface="Boston Angel"/>
              </a:rPr>
              <a:t>Recognise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41865" y="3083762"/>
            <a:ext cx="4071299" cy="68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1845" b="1" spc="-36">
                <a:solidFill>
                  <a:srgbClr val="545454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opt-in face login, or loyalty QR code</a:t>
            </a:r>
          </a:p>
          <a:p>
            <a:pPr algn="l">
              <a:lnSpc>
                <a:spcPts val="2952"/>
              </a:lnSpc>
            </a:pPr>
            <a:r>
              <a:rPr lang="en-US" sz="1845" b="1" spc="-36">
                <a:solidFill>
                  <a:srgbClr val="545454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as an equal alternative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2113" y="4266918"/>
            <a:ext cx="1055085" cy="11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3"/>
              </a:lnSpc>
            </a:pPr>
            <a:r>
              <a:rPr lang="en-US" sz="8353" spc="334">
                <a:solidFill>
                  <a:srgbClr val="B48A38"/>
                </a:solidFill>
                <a:latin typeface="Boston Angel"/>
                <a:ea typeface="Boston Angel"/>
                <a:cs typeface="Boston Angel"/>
                <a:sym typeface="Boston Angel"/>
              </a:rPr>
              <a:t>02</a:t>
            </a:r>
          </a:p>
        </p:txBody>
      </p:sp>
      <p:sp>
        <p:nvSpPr>
          <p:cNvPr id="10" name="Freeform 10"/>
          <p:cNvSpPr/>
          <p:nvPr/>
        </p:nvSpPr>
        <p:spPr>
          <a:xfrm>
            <a:off x="2821952" y="4285339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73196" y="4324094"/>
            <a:ext cx="938253" cy="488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3480" spc="139">
                <a:solidFill>
                  <a:srgbClr val="113047"/>
                </a:solidFill>
                <a:latin typeface="Boston Angel"/>
                <a:ea typeface="Boston Angel"/>
                <a:cs typeface="Boston Angel"/>
                <a:sym typeface="Boston Angel"/>
              </a:rPr>
              <a:t>Read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31245" y="4860942"/>
            <a:ext cx="5133321" cy="68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1845" b="1" spc="-36">
                <a:solidFill>
                  <a:srgbClr val="545454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purchase history, body proportions,</a:t>
            </a:r>
          </a:p>
          <a:p>
            <a:pPr algn="l">
              <a:lnSpc>
                <a:spcPts val="2952"/>
              </a:lnSpc>
            </a:pPr>
            <a:r>
              <a:rPr lang="en-US" sz="1845" b="1" spc="-36">
                <a:solidFill>
                  <a:srgbClr val="545454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optional skin tone or shopper-chosen colours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2135" y="6059158"/>
            <a:ext cx="1052899" cy="11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3"/>
              </a:lnSpc>
            </a:pPr>
            <a:r>
              <a:rPr lang="en-US" sz="8353" spc="334">
                <a:solidFill>
                  <a:srgbClr val="B48A38"/>
                </a:solidFill>
                <a:latin typeface="Boston Angel"/>
                <a:ea typeface="Boston Angel"/>
                <a:cs typeface="Boston Angel"/>
                <a:sym typeface="Boston Angel"/>
              </a:rPr>
              <a:t>03</a:t>
            </a:r>
          </a:p>
        </p:txBody>
      </p:sp>
      <p:sp>
        <p:nvSpPr>
          <p:cNvPr id="14" name="Freeform 14"/>
          <p:cNvSpPr/>
          <p:nvPr/>
        </p:nvSpPr>
        <p:spPr>
          <a:xfrm>
            <a:off x="2821952" y="5990729"/>
            <a:ext cx="229694" cy="1519546"/>
          </a:xfrm>
          <a:custGeom>
            <a:avLst/>
            <a:gdLst/>
            <a:ahLst/>
            <a:cxnLst/>
            <a:rect l="l" t="t" r="r" b="b"/>
            <a:pathLst>
              <a:path w="229694" h="1519546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458867" y="6086212"/>
            <a:ext cx="2371112" cy="488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3480" spc="139">
                <a:solidFill>
                  <a:srgbClr val="113047"/>
                </a:solidFill>
                <a:latin typeface="Boston Angel"/>
                <a:ea typeface="Boston Angel"/>
                <a:cs typeface="Boston Angel"/>
                <a:sym typeface="Boston Angel"/>
              </a:rPr>
              <a:t>Recommend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428591" y="6653182"/>
            <a:ext cx="5398666" cy="68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1845" b="1" spc="-36">
                <a:solidFill>
                  <a:srgbClr val="545454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complete outfits, in stock, in the shopper's size, each with a plain-language reason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2026" y="7881519"/>
            <a:ext cx="1063831" cy="11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3"/>
              </a:lnSpc>
            </a:pPr>
            <a:r>
              <a:rPr lang="en-US" sz="8353" spc="334">
                <a:solidFill>
                  <a:srgbClr val="B48A38"/>
                </a:solidFill>
                <a:latin typeface="Boston Angel"/>
                <a:ea typeface="Boston Angel"/>
                <a:cs typeface="Boston Angel"/>
                <a:sym typeface="Boston Angel"/>
              </a:rPr>
              <a:t>04</a:t>
            </a:r>
          </a:p>
        </p:txBody>
      </p:sp>
      <p:sp>
        <p:nvSpPr>
          <p:cNvPr id="18" name="Freeform 18"/>
          <p:cNvSpPr/>
          <p:nvPr/>
        </p:nvSpPr>
        <p:spPr>
          <a:xfrm>
            <a:off x="2821952" y="7925691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471196" y="7923635"/>
            <a:ext cx="1138205" cy="488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3480" spc="139">
                <a:solidFill>
                  <a:srgbClr val="113047"/>
                </a:solidFill>
                <a:latin typeface="Boston Angel"/>
                <a:ea typeface="Boston Angel"/>
                <a:cs typeface="Boston Angel"/>
                <a:sym typeface="Boston Angel"/>
              </a:rPr>
              <a:t>Learn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45748" y="8475543"/>
            <a:ext cx="3683059" cy="68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1845" b="1" spc="-36">
                <a:solidFill>
                  <a:srgbClr val="545454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what was viewed but not bought</a:t>
            </a:r>
          </a:p>
          <a:p>
            <a:pPr algn="l">
              <a:lnSpc>
                <a:spcPts val="2952"/>
              </a:lnSpc>
            </a:pPr>
            <a:r>
              <a:rPr lang="en-US" sz="1845" b="1" spc="-36">
                <a:solidFill>
                  <a:srgbClr val="545454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sharpens the demand forecast</a:t>
            </a:r>
          </a:p>
        </p:txBody>
      </p:sp>
      <p:sp>
        <p:nvSpPr>
          <p:cNvPr id="21" name="Freeform 21" descr="Researcher demonstrating an augmented reality dressing room with a large screen showing clothes on an on-screen figure"/>
          <p:cNvSpPr/>
          <p:nvPr/>
        </p:nvSpPr>
        <p:spPr>
          <a:xfrm>
            <a:off x="11315700" y="2381250"/>
            <a:ext cx="6543675" cy="4905375"/>
          </a:xfrm>
          <a:custGeom>
            <a:avLst/>
            <a:gdLst/>
            <a:ahLst/>
            <a:cxnLst/>
            <a:rect l="l" t="t" r="r" b="b"/>
            <a:pathLst>
              <a:path w="6543675" h="4905375">
                <a:moveTo>
                  <a:pt x="0" y="0"/>
                </a:moveTo>
                <a:lnTo>
                  <a:pt x="6543675" y="0"/>
                </a:lnTo>
                <a:lnTo>
                  <a:pt x="6543675" y="4905375"/>
                </a:lnTo>
                <a:lnTo>
                  <a:pt x="0" y="49053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315700" y="7410450"/>
            <a:ext cx="6543675" cy="59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30"/>
              </a:lnSpc>
              <a:spcBef>
                <a:spcPct val="0"/>
              </a:spcBef>
            </a:pPr>
            <a:r>
              <a:rPr lang="en-US" sz="1582" b="1" i="1" u="none" strike="noStrike" spc="-31">
                <a:solidFill>
                  <a:srgbClr val="5B666F"/>
                </a:solidFill>
                <a:latin typeface="Open Sauce Semi-Bold Italics"/>
                <a:ea typeface="Open Sauce Semi-Bold Italics"/>
                <a:cs typeface="Open Sauce Semi-Bold Italics"/>
                <a:sym typeface="Open Sauce Semi-Bold Italics"/>
              </a:rPr>
              <a:t>Photo: Intel Free Press, Wikimedia Commons, CC BY-SA 2.0. Similar technology built by others, not the Westside 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9556" y="651307"/>
            <a:ext cx="12053810" cy="1929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94"/>
              </a:lnSpc>
            </a:pPr>
            <a:r>
              <a:rPr lang="en-US" sz="7294" spc="71">
                <a:solidFill>
                  <a:srgbClr val="233F59"/>
                </a:solidFill>
                <a:latin typeface="Boston Angel"/>
                <a:ea typeface="Boston Angel"/>
                <a:cs typeface="Boston Angel"/>
                <a:sym typeface="Boston Angel"/>
              </a:rPr>
              <a:t>We prove it against best-sellers, across skin tones, and on stock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2776725"/>
            <a:ext cx="12206584" cy="229572"/>
          </a:xfrm>
          <a:custGeom>
            <a:avLst/>
            <a:gdLst/>
            <a:ahLst/>
            <a:cxnLst/>
            <a:rect l="l" t="t" r="r" b="b"/>
            <a:pathLst>
              <a:path w="12206584" h="229572">
                <a:moveTo>
                  <a:pt x="0" y="0"/>
                </a:moveTo>
                <a:lnTo>
                  <a:pt x="12206584" y="0"/>
                </a:lnTo>
                <a:lnTo>
                  <a:pt x="1220658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330" y="3214004"/>
            <a:ext cx="6114230" cy="4930326"/>
          </a:xfrm>
          <a:custGeom>
            <a:avLst/>
            <a:gdLst/>
            <a:ahLst/>
            <a:cxnLst/>
            <a:rect l="l" t="t" r="r" b="b"/>
            <a:pathLst>
              <a:path w="6114230" h="4930326">
                <a:moveTo>
                  <a:pt x="0" y="0"/>
                </a:moveTo>
                <a:lnTo>
                  <a:pt x="6114230" y="0"/>
                </a:lnTo>
                <a:lnTo>
                  <a:pt x="6114230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28191" y="3632654"/>
            <a:ext cx="2373832" cy="26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2032" b="1" spc="101">
                <a:solidFill>
                  <a:srgbClr val="B087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SUCCESS TESTS</a:t>
            </a:r>
          </a:p>
        </p:txBody>
      </p:sp>
      <p:sp>
        <p:nvSpPr>
          <p:cNvPr id="7" name="Freeform 7"/>
          <p:cNvSpPr/>
          <p:nvPr/>
        </p:nvSpPr>
        <p:spPr>
          <a:xfrm>
            <a:off x="1082842" y="4066699"/>
            <a:ext cx="5239206" cy="229572"/>
          </a:xfrm>
          <a:custGeom>
            <a:avLst/>
            <a:gdLst/>
            <a:ahLst/>
            <a:cxnLst/>
            <a:rect l="l" t="t" r="r" b="b"/>
            <a:pathLst>
              <a:path w="5239206" h="229572">
                <a:moveTo>
                  <a:pt x="0" y="0"/>
                </a:moveTo>
                <a:lnTo>
                  <a:pt x="5239206" y="0"/>
                </a:lnTo>
                <a:lnTo>
                  <a:pt x="5239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01444" y="4392202"/>
            <a:ext cx="5048609" cy="666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7"/>
              </a:lnSpc>
            </a:pPr>
            <a:r>
              <a:rPr lang="en-US" sz="1983" b="1" spc="-39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MAP@12 at least 3x a best-seller baseline (about 0.006 vs 0.038 competition winner)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0789" y="5476328"/>
            <a:ext cx="4114033" cy="1005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63" b="1" spc="-39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Outfit matching:</a:t>
            </a:r>
          </a:p>
          <a:p>
            <a:pPr algn="l">
              <a:lnSpc>
                <a:spcPts val="2749"/>
              </a:lnSpc>
            </a:pPr>
            <a:r>
              <a:rPr lang="en-US" sz="1963" b="1" spc="-39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beat the published 51.8% accuracy</a:t>
            </a:r>
          </a:p>
          <a:p>
            <a:pPr algn="l">
              <a:lnSpc>
                <a:spcPts val="2749"/>
              </a:lnSpc>
            </a:pPr>
            <a:r>
              <a:rPr lang="en-US" sz="1963" b="1" spc="-39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and 0.81 AUC on Polyvore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8192" y="6907108"/>
            <a:ext cx="4373755" cy="66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63" b="1" spc="-39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Fairness: error gaps across skin-tone groups stay within a limit set in M5</a:t>
            </a:r>
          </a:p>
        </p:txBody>
      </p:sp>
      <p:sp>
        <p:nvSpPr>
          <p:cNvPr id="11" name="Freeform 11"/>
          <p:cNvSpPr/>
          <p:nvPr/>
        </p:nvSpPr>
        <p:spPr>
          <a:xfrm>
            <a:off x="6748622" y="3214004"/>
            <a:ext cx="6103292" cy="4930326"/>
          </a:xfrm>
          <a:custGeom>
            <a:avLst/>
            <a:gdLst/>
            <a:ahLst/>
            <a:cxnLst/>
            <a:rect l="l" t="t" r="r" b="b"/>
            <a:pathLst>
              <a:path w="6103292" h="4930326">
                <a:moveTo>
                  <a:pt x="0" y="0"/>
                </a:moveTo>
                <a:lnTo>
                  <a:pt x="6103292" y="0"/>
                </a:lnTo>
                <a:lnTo>
                  <a:pt x="6103292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320532" y="3631737"/>
            <a:ext cx="1967142" cy="274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1"/>
              </a:lnSpc>
            </a:pPr>
            <a:r>
              <a:rPr lang="en-US" sz="2151" b="1" spc="107">
                <a:solidFill>
                  <a:srgbClr val="B087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GUARDRAILS</a:t>
            </a:r>
          </a:p>
        </p:txBody>
      </p:sp>
      <p:sp>
        <p:nvSpPr>
          <p:cNvPr id="13" name="Freeform 13"/>
          <p:cNvSpPr/>
          <p:nvPr/>
        </p:nvSpPr>
        <p:spPr>
          <a:xfrm>
            <a:off x="7175196" y="4066699"/>
            <a:ext cx="5239206" cy="229572"/>
          </a:xfrm>
          <a:custGeom>
            <a:avLst/>
            <a:gdLst/>
            <a:ahLst/>
            <a:cxnLst/>
            <a:rect l="l" t="t" r="r" b="b"/>
            <a:pathLst>
              <a:path w="5239206" h="229572">
                <a:moveTo>
                  <a:pt x="0" y="0"/>
                </a:moveTo>
                <a:lnTo>
                  <a:pt x="5239206" y="0"/>
                </a:lnTo>
                <a:lnTo>
                  <a:pt x="5239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293453" y="4392456"/>
            <a:ext cx="4675034" cy="665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b="1" spc="-40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Safety: no member matched to another; failed match falls back to QR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91867" y="5476838"/>
            <a:ext cx="4833611" cy="1004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b="1" spc="-40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Privacy: opt-in only, face template not photo, no under-18s, deletion on request, DPDP Rules 2025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96093" y="6907108"/>
            <a:ext cx="4410981" cy="66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963" b="1" spc="-39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Honest limits: public proxy data; uplift figures are hypotheses, not results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5330" y="8133399"/>
            <a:ext cx="12206584" cy="229572"/>
          </a:xfrm>
          <a:custGeom>
            <a:avLst/>
            <a:gdLst/>
            <a:ahLst/>
            <a:cxnLst/>
            <a:rect l="l" t="t" r="r" b="b"/>
            <a:pathLst>
              <a:path w="12206584" h="229572">
                <a:moveTo>
                  <a:pt x="0" y="0"/>
                </a:moveTo>
                <a:lnTo>
                  <a:pt x="12206584" y="0"/>
                </a:lnTo>
                <a:lnTo>
                  <a:pt x="1220658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80759" y="8620512"/>
            <a:ext cx="662203" cy="5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sz="4176" b="1" spc="208">
                <a:solidFill>
                  <a:srgbClr val="B08735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M1</a:t>
            </a:r>
          </a:p>
        </p:txBody>
      </p:sp>
      <p:sp>
        <p:nvSpPr>
          <p:cNvPr id="19" name="Freeform 19"/>
          <p:cNvSpPr/>
          <p:nvPr/>
        </p:nvSpPr>
        <p:spPr>
          <a:xfrm>
            <a:off x="1957866" y="8778386"/>
            <a:ext cx="1093780" cy="229572"/>
          </a:xfrm>
          <a:custGeom>
            <a:avLst/>
            <a:gdLst/>
            <a:ahLst/>
            <a:cxnLst/>
            <a:rect l="l" t="t" r="r" b="b"/>
            <a:pathLst>
              <a:path w="1093780" h="229572">
                <a:moveTo>
                  <a:pt x="0" y="0"/>
                </a:moveTo>
                <a:lnTo>
                  <a:pt x="1093780" y="0"/>
                </a:lnTo>
                <a:lnTo>
                  <a:pt x="109378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28825" y="9302036"/>
            <a:ext cx="1347780" cy="3277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 b="1" spc="-39" dirty="0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Framing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44490" y="8620512"/>
            <a:ext cx="765498" cy="5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sz="4176" b="1" spc="208">
                <a:solidFill>
                  <a:srgbClr val="B08735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M2</a:t>
            </a:r>
          </a:p>
        </p:txBody>
      </p:sp>
      <p:sp>
        <p:nvSpPr>
          <p:cNvPr id="22" name="Freeform 22"/>
          <p:cNvSpPr/>
          <p:nvPr/>
        </p:nvSpPr>
        <p:spPr>
          <a:xfrm>
            <a:off x="4134488" y="8778386"/>
            <a:ext cx="1093780" cy="229572"/>
          </a:xfrm>
          <a:custGeom>
            <a:avLst/>
            <a:gdLst/>
            <a:ahLst/>
            <a:cxnLst/>
            <a:rect l="l" t="t" r="r" b="b"/>
            <a:pathLst>
              <a:path w="1093780" h="229572">
                <a:moveTo>
                  <a:pt x="0" y="0"/>
                </a:moveTo>
                <a:lnTo>
                  <a:pt x="1093780" y="0"/>
                </a:lnTo>
                <a:lnTo>
                  <a:pt x="109378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350839" y="9310797"/>
            <a:ext cx="972248" cy="3248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93"/>
              </a:lnSpc>
            </a:pPr>
            <a:r>
              <a:rPr lang="en-US" sz="1923" b="1" spc="-38" dirty="0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Data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24020" y="8620512"/>
            <a:ext cx="760579" cy="5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sz="4176" b="1" spc="208">
                <a:solidFill>
                  <a:srgbClr val="B08735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M3</a:t>
            </a:r>
          </a:p>
        </p:txBody>
      </p:sp>
      <p:sp>
        <p:nvSpPr>
          <p:cNvPr id="25" name="Freeform 25"/>
          <p:cNvSpPr/>
          <p:nvPr/>
        </p:nvSpPr>
        <p:spPr>
          <a:xfrm>
            <a:off x="6311110" y="8778386"/>
            <a:ext cx="1312536" cy="229572"/>
          </a:xfrm>
          <a:custGeom>
            <a:avLst/>
            <a:gdLst/>
            <a:ahLst/>
            <a:cxnLst/>
            <a:rect l="l" t="t" r="r" b="b"/>
            <a:pathLst>
              <a:path w="1312536" h="229572">
                <a:moveTo>
                  <a:pt x="0" y="0"/>
                </a:moveTo>
                <a:lnTo>
                  <a:pt x="1312536" y="0"/>
                </a:lnTo>
                <a:lnTo>
                  <a:pt x="131253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7743413" y="8620512"/>
            <a:ext cx="768777" cy="5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sz="4176" b="1" spc="208">
                <a:solidFill>
                  <a:srgbClr val="B08735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M4</a:t>
            </a:r>
          </a:p>
        </p:txBody>
      </p:sp>
      <p:sp>
        <p:nvSpPr>
          <p:cNvPr id="27" name="Freeform 27"/>
          <p:cNvSpPr/>
          <p:nvPr/>
        </p:nvSpPr>
        <p:spPr>
          <a:xfrm>
            <a:off x="8706488" y="8778386"/>
            <a:ext cx="1093780" cy="229572"/>
          </a:xfrm>
          <a:custGeom>
            <a:avLst/>
            <a:gdLst/>
            <a:ahLst/>
            <a:cxnLst/>
            <a:rect l="l" t="t" r="r" b="b"/>
            <a:pathLst>
              <a:path w="1093780" h="229572">
                <a:moveTo>
                  <a:pt x="0" y="0"/>
                </a:moveTo>
                <a:lnTo>
                  <a:pt x="1093780" y="0"/>
                </a:lnTo>
                <a:lnTo>
                  <a:pt x="109378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081986" y="8620512"/>
            <a:ext cx="752927" cy="5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sz="4176" b="1" spc="208">
                <a:solidFill>
                  <a:srgbClr val="B08735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M5</a:t>
            </a:r>
          </a:p>
        </p:txBody>
      </p:sp>
      <p:sp>
        <p:nvSpPr>
          <p:cNvPr id="29" name="Freeform 29"/>
          <p:cNvSpPr/>
          <p:nvPr/>
        </p:nvSpPr>
        <p:spPr>
          <a:xfrm>
            <a:off x="10883110" y="8778386"/>
            <a:ext cx="1312536" cy="229572"/>
          </a:xfrm>
          <a:custGeom>
            <a:avLst/>
            <a:gdLst/>
            <a:ahLst/>
            <a:cxnLst/>
            <a:rect l="l" t="t" r="r" b="b"/>
            <a:pathLst>
              <a:path w="1312536" h="229572">
                <a:moveTo>
                  <a:pt x="0" y="0"/>
                </a:moveTo>
                <a:lnTo>
                  <a:pt x="1312536" y="0"/>
                </a:lnTo>
                <a:lnTo>
                  <a:pt x="131253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9828911" y="9301782"/>
            <a:ext cx="1524889" cy="317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1963" b="1" spc="-39" dirty="0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Evaluation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11542" y="8620512"/>
            <a:ext cx="755114" cy="5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sz="4176" b="1" spc="208">
                <a:solidFill>
                  <a:srgbClr val="B08735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M6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497244" y="8778386"/>
            <a:ext cx="1093780" cy="229572"/>
          </a:xfrm>
          <a:custGeom>
            <a:avLst/>
            <a:gdLst/>
            <a:ahLst/>
            <a:cxnLst/>
            <a:rect l="l" t="t" r="r" b="b"/>
            <a:pathLst>
              <a:path w="1093780" h="229572">
                <a:moveTo>
                  <a:pt x="0" y="0"/>
                </a:moveTo>
                <a:lnTo>
                  <a:pt x="1093780" y="0"/>
                </a:lnTo>
                <a:lnTo>
                  <a:pt x="109378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2081580" y="9310798"/>
            <a:ext cx="1710619" cy="316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93"/>
              </a:lnSpc>
            </a:pPr>
            <a:r>
              <a:rPr lang="en-US" sz="1923" b="1" spc="-38" dirty="0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Deployment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043701" y="8620512"/>
            <a:ext cx="741450" cy="5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6"/>
              </a:lnSpc>
            </a:pPr>
            <a:r>
              <a:rPr lang="en-US" sz="4176" b="1" spc="208">
                <a:solidFill>
                  <a:srgbClr val="B08735"/>
                </a:solidFill>
                <a:latin typeface="Boston Angel Bold"/>
                <a:ea typeface="Boston Angel Bold"/>
                <a:cs typeface="Boston Angel Bold"/>
                <a:sym typeface="Boston Angel Bold"/>
              </a:rPr>
              <a:t>M7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491213" y="9301782"/>
            <a:ext cx="2120387" cy="317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1963" b="1" spc="-39" dirty="0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Communication</a:t>
            </a:r>
          </a:p>
        </p:txBody>
      </p:sp>
      <p:sp>
        <p:nvSpPr>
          <p:cNvPr id="36" name="Freeform 36" descr="Stacks of polo shirts in several colours and sizes on shelves at a Westside store"/>
          <p:cNvSpPr/>
          <p:nvPr/>
        </p:nvSpPr>
        <p:spPr>
          <a:xfrm>
            <a:off x="13059732" y="2350377"/>
            <a:ext cx="5020450" cy="5793953"/>
          </a:xfrm>
          <a:custGeom>
            <a:avLst/>
            <a:gdLst/>
            <a:ahLst/>
            <a:cxnLst/>
            <a:rect l="l" t="t" r="r" b="b"/>
            <a:pathLst>
              <a:path w="5020450" h="5793953">
                <a:moveTo>
                  <a:pt x="0" y="0"/>
                </a:moveTo>
                <a:lnTo>
                  <a:pt x="5020450" y="0"/>
                </a:lnTo>
                <a:lnTo>
                  <a:pt x="5020450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151" t="-30335" r="-2151" b="-30335"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7530536" y="9310798"/>
            <a:ext cx="1429501" cy="316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93"/>
              </a:lnSpc>
            </a:pPr>
            <a:r>
              <a:rPr lang="en-US" sz="1923" b="1" spc="-38" dirty="0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Modelling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72232" y="9302290"/>
            <a:ext cx="825599" cy="333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003" b="1" spc="-40" dirty="0">
                <a:solidFill>
                  <a:srgbClr val="404040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EDA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058775" y="8229600"/>
            <a:ext cx="5019675" cy="24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89"/>
              </a:lnSpc>
              <a:spcBef>
                <a:spcPct val="0"/>
              </a:spcBef>
            </a:pPr>
            <a:r>
              <a:rPr lang="en-US" sz="1350" u="none" strike="noStrike">
                <a:solidFill>
                  <a:srgbClr val="5B666F"/>
                </a:solidFill>
                <a:latin typeface="Arimo"/>
                <a:ea typeface="Arimo"/>
                <a:cs typeface="Arimo"/>
                <a:sym typeface="Arimo"/>
              </a:rPr>
              <a:t>Photo: Biswarup Ganguly, Wikimedia Commons, CC BY-SA 4.0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1145" y="757617"/>
            <a:ext cx="9215997" cy="103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78"/>
              </a:lnSpc>
            </a:pPr>
            <a:r>
              <a:rPr lang="en-US" sz="7378" spc="147">
                <a:solidFill>
                  <a:srgbClr val="163A52"/>
                </a:solidFill>
                <a:latin typeface="Boston Angel"/>
                <a:ea typeface="Boston Angel"/>
                <a:cs typeface="Boston Angel"/>
                <a:sym typeface="Boston Angel"/>
              </a:rPr>
              <a:t>References and sources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924030"/>
            <a:ext cx="16997340" cy="229572"/>
          </a:xfrm>
          <a:custGeom>
            <a:avLst/>
            <a:gdLst/>
            <a:ahLst/>
            <a:cxnLst/>
            <a:rect l="l" t="t" r="r" b="b"/>
            <a:pathLst>
              <a:path w="16997340" h="229572">
                <a:moveTo>
                  <a:pt x="0" y="0"/>
                </a:moveTo>
                <a:lnTo>
                  <a:pt x="16997340" y="0"/>
                </a:lnTo>
                <a:lnTo>
                  <a:pt x="1699734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40576" y="2634617"/>
            <a:ext cx="3630656" cy="657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1805" b="1" spc="-36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4" tooltip="https://trentlimited.com/pages/about-us"/>
              </a:rPr>
              <a:t>Trent Limited, About us</a:t>
            </a:r>
          </a:p>
          <a:p>
            <a:pPr algn="l">
              <a:lnSpc>
                <a:spcPts val="2708"/>
              </a:lnSpc>
            </a:pPr>
            <a:r>
              <a:rPr lang="en-US" sz="1805" b="1" spc="-36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4" tooltip="https://trentlimited.com/pages/about-us"/>
              </a:rPr>
              <a:t>trentlimited.com/pages/about-us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0463" y="3719714"/>
            <a:ext cx="4641956" cy="65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43" b="1" spc="-36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5" tooltip="https://nsearchives.nseindia.com/corporate/TRENT_06082026134112_InvestorPresentation06082026Q1FY27.pdf"/>
              </a:rPr>
              <a:t>Trent Investor Presentation Q1 FY27 (NSE)</a:t>
            </a:r>
          </a:p>
          <a:p>
            <a:pPr algn="l">
              <a:lnSpc>
                <a:spcPts val="2764"/>
              </a:lnSpc>
            </a:pPr>
            <a:r>
              <a:rPr lang="en-US" sz="1843" b="1" spc="-36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5" tooltip="https://nsearchives.nseindia.com/corporate/TRENT_06082026134112_InvestorPresentation06082026Q1FY27.pdf"/>
              </a:rPr>
              <a:t>nsearchives.nseindia.com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0430" y="4747557"/>
            <a:ext cx="6645294" cy="59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738" b="1" spc="-34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6" tooltip="https://www.indiainfoline.com/company/trent-ltd/management-discussions"/>
              </a:rPr>
              <a:t>Trent MD&amp;A FY2025-26</a:t>
            </a:r>
          </a:p>
          <a:p>
            <a:pPr algn="l">
              <a:lnSpc>
                <a:spcPts val="2433"/>
              </a:lnSpc>
            </a:pPr>
            <a:r>
              <a:rPr lang="en-US" sz="1738" b="1" spc="-34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6" tooltip="https://www.indiainfoline.com/company/trent-ltd/management-discussions"/>
              </a:rPr>
              <a:t>indiainfoline.com/company/trent-ltd/management-discussions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0059" y="5681789"/>
            <a:ext cx="5682421" cy="590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74" b="1" spc="-35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7" tooltip="https://digiday.com/marketing/rebecca-minkoff-digital-store/"/>
              </a:rPr>
              <a:t>Rebecca Minkoff digital store, Digiday</a:t>
            </a:r>
          </a:p>
          <a:p>
            <a:pPr algn="l">
              <a:lnSpc>
                <a:spcPts val="2484"/>
              </a:lnSpc>
            </a:pPr>
            <a:r>
              <a:rPr lang="en-US" sz="1774" b="1" spc="-35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7" tooltip="https://digiday.com/marketing/rebecca-minkoff-digital-store/"/>
              </a:rPr>
              <a:t>digiday.com/marketing/rebecca-minkoff-digital-store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3926" y="6600500"/>
            <a:ext cx="6295635" cy="590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74" b="1" spc="-35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8" tooltip="https://www.retaildive.com/news/hm-tests-smart-mirrors-at-cos-stores-in-a-bid-for-a-more-personalized-expe/625014/"/>
              </a:rPr>
              <a:t>H&amp;M smart mirrors at COS, Retail Dive</a:t>
            </a:r>
          </a:p>
          <a:p>
            <a:pPr algn="l">
              <a:lnSpc>
                <a:spcPts val="2484"/>
              </a:lnSpc>
            </a:pPr>
            <a:r>
              <a:rPr lang="en-US" sz="1774" b="1" spc="-35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8" tooltip="https://www.retaildive.com/news/hm-tests-smart-mirrors-at-cos-stores-in-a-bid-for-a-more-personalized-expe/625014/"/>
              </a:rPr>
              <a:t>retaildive.com/news/hm-tests-smart-mirrors-at-cos-stores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6067" y="7609577"/>
            <a:ext cx="8081544" cy="590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74" b="1" spc="-35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9" tooltip="https://www.kaggle.com/competitions/h-and-m-personalized-fashion-recommendations/data"/>
              </a:rPr>
              <a:t>Kaggle H&amp;M Personalized Fashion Recommendations</a:t>
            </a:r>
          </a:p>
          <a:p>
            <a:pPr algn="l">
              <a:lnSpc>
                <a:spcPts val="2484"/>
              </a:lnSpc>
            </a:pPr>
            <a:r>
              <a:rPr lang="en-US" sz="1774" b="1" spc="-35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9" tooltip="https://www.kaggle.com/competitions/h-and-m-personalized-fashion-recommendations/data"/>
              </a:rPr>
              <a:t>kaggle.com/competitions/h-and-m-personalized-fashion-recommendations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04205" y="2634617"/>
            <a:ext cx="3985781" cy="657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1805" b="1" spc="-36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10" tooltip="https://arxiv.org/abs/1803.09196"/>
              </a:rPr>
              <a:t>Polyvore Outfits, Vasileva et al. 2018</a:t>
            </a:r>
          </a:p>
          <a:p>
            <a:pPr algn="l">
              <a:lnSpc>
                <a:spcPts val="2708"/>
              </a:lnSpc>
            </a:pPr>
            <a:r>
              <a:rPr lang="en-US" sz="1805" b="1" spc="-36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10" tooltip="https://arxiv.org/abs/1803.09196"/>
              </a:rPr>
              <a:t>arxiv.org/abs/1803.09196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15660" y="3718997"/>
            <a:ext cx="2840212" cy="657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1805" b="1" spc="-36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11" tooltip="https://arxiv.org/abs/2210.05667"/>
              </a:rPr>
              <a:t>BodyM dataset, Ruiz et al.</a:t>
            </a:r>
          </a:p>
          <a:p>
            <a:pPr algn="l">
              <a:lnSpc>
                <a:spcPts val="2708"/>
              </a:lnSpc>
            </a:pPr>
            <a:r>
              <a:rPr lang="en-US" sz="1805" b="1" spc="-36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11" tooltip="https://arxiv.org/abs/2210.05667"/>
              </a:rPr>
              <a:t>arxiv.org/abs/2210.05667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87421" y="4893743"/>
            <a:ext cx="5664173" cy="657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1805" b="1" spc="-36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12" tooltip="https://nvlpubs.nist.gov/nistpubs/ir/2019/NIST.IR.8280.pdf"/>
              </a:rPr>
              <a:t>NIST FRVT Part 3 demographic effects</a:t>
            </a:r>
          </a:p>
          <a:p>
            <a:pPr algn="l">
              <a:lnSpc>
                <a:spcPts val="2708"/>
              </a:lnSpc>
            </a:pPr>
            <a:r>
              <a:rPr lang="en-US" sz="1805" b="1" spc="-36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12" tooltip="https://nvlpubs.nist.gov/nistpubs/ir/2019/NIST.IR.8280.pdf"/>
              </a:rPr>
              <a:t>nvlpubs.nist.gov/nistpubs/ir/2019/NIST.IR.8280.pdf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88773" y="6206109"/>
            <a:ext cx="5528958" cy="622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1768" b="1" spc="-35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13" tooltip="https://patents.google.com/patent/US20240169414A1/en"/>
              </a:rPr>
              <a:t>Patent US20240169414A1</a:t>
            </a:r>
          </a:p>
          <a:p>
            <a:pPr algn="l">
              <a:lnSpc>
                <a:spcPts val="2652"/>
              </a:lnSpc>
            </a:pPr>
            <a:r>
              <a:rPr lang="en-US" sz="1768" b="1" spc="-35">
                <a:solidFill>
                  <a:srgbClr val="3A3F4B"/>
                </a:solidFill>
                <a:latin typeface="Open Sauce Medium"/>
                <a:ea typeface="Open Sauce Medium"/>
                <a:cs typeface="Open Sauce Medium"/>
                <a:sym typeface="Open Sauce Medium"/>
                <a:hlinkClick r:id="rId13" tooltip="https://patents.google.com/patent/US20240169414A1/en"/>
              </a:rPr>
              <a:t>patents.google.com/patent/US20240169414A1/en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73303" y="7454802"/>
            <a:ext cx="7075923" cy="655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64"/>
              </a:lnSpc>
              <a:spcBef>
                <a:spcPct val="0"/>
              </a:spcBef>
            </a:pPr>
            <a:r>
              <a:rPr lang="en-US" sz="1843" b="1" u="none" strike="noStrike" spc="-36">
                <a:solidFill>
                  <a:srgbClr val="545454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Photos: Wikimedia Commons, Biswarup Ganguly (CC BY-SA 4.0), Intel Free Press (CC BY-SA 2.0)</a:t>
            </a:r>
          </a:p>
        </p:txBody>
      </p:sp>
      <p:sp>
        <p:nvSpPr>
          <p:cNvPr id="16" name="Freeform 16"/>
          <p:cNvSpPr/>
          <p:nvPr/>
        </p:nvSpPr>
        <p:spPr>
          <a:xfrm>
            <a:off x="645330" y="8778386"/>
            <a:ext cx="16997340" cy="1082267"/>
          </a:xfrm>
          <a:custGeom>
            <a:avLst/>
            <a:gdLst/>
            <a:ahLst/>
            <a:cxnLst/>
            <a:rect l="l" t="t" r="r" b="b"/>
            <a:pathLst>
              <a:path w="16997340" h="1082267">
                <a:moveTo>
                  <a:pt x="0" y="0"/>
                </a:moveTo>
                <a:lnTo>
                  <a:pt x="16997340" y="0"/>
                </a:lnTo>
                <a:lnTo>
                  <a:pt x="1699734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25141" y="9046684"/>
            <a:ext cx="8465344" cy="41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227" spc="-44">
                <a:solidFill>
                  <a:srgbClr val="66645B"/>
                </a:solidFill>
                <a:latin typeface="Boston Angel"/>
                <a:ea typeface="Boston Angel"/>
                <a:cs typeface="Boston Angel"/>
                <a:sym typeface="Boston Angel"/>
              </a:rPr>
              <a:t>Full list of 37 references is in Project Charter D1, Section 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</TotalTime>
  <Words>524</Words>
  <Application>Microsoft Office PowerPoint</Application>
  <PresentationFormat>Custom</PresentationFormat>
  <Paragraphs>91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Arimo</vt:lpstr>
      <vt:lpstr>Boston Angel</vt:lpstr>
      <vt:lpstr>Calibri</vt:lpstr>
      <vt:lpstr>Open Sauce</vt:lpstr>
      <vt:lpstr>Arial</vt:lpstr>
      <vt:lpstr>Open Sauce Semi-Bold</vt:lpstr>
      <vt:lpstr>Open Sauce Medium</vt:lpstr>
      <vt:lpstr>Open Sauce Semi-Bold Italics</vt:lpstr>
      <vt:lpstr>Boston Angel Bold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Stylist Mirror Capstone</dc:title>
  <cp:lastModifiedBy>C PRASHANTH</cp:lastModifiedBy>
  <cp:revision>2</cp:revision>
  <dcterms:created xsi:type="dcterms:W3CDTF">2006-08-16T00:00:00Z</dcterms:created>
  <dcterms:modified xsi:type="dcterms:W3CDTF">2026-10-15T04:09:19Z</dcterms:modified>
  <dc:identifier>DAHX-Jdbj54</dc:identifier>
</cp:coreProperties>
</file>